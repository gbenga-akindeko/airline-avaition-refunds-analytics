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ort pages" id="{9df5e118-b322-e269-306d-763081d0c11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Guide" id="{92924026-03b0-0436-2b0e-f1f2486f0de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Overview - visual placement (Power BI px, canvas 1280 x 720)
- Total Refunds card:  X 28  Y 142  W 154  H 50  -&gt;  Card (new) / Card visual, measure [Total Refunds]
- Pending card:  X 206  Y 142  W 154  H 50  -&gt;  Card (new) / Card visual, measure [Pending]
- Processing card:  X 385  Y 142  W 154  H 50  -&gt;  Card (new) / Card visual, measure [Processing]
- Process Done card:  X 563  Y 142  W 154  H 50  -&gt;  Card (new) / Card visual, measure [Process Done]
- Service Charge card:  X 741  Y 142  W 154  H 50  -&gt;  Card (new) / Card visual, measure [Service Charge]
- Posted card:  X 919  Y 142  W 154  H 50  -&gt;  Card (new) / Card visual, measure [Posted to Travcom]
- Voluntary card:  X 1098  Y 142  W 154  H 50  -&gt;  Card (new) / Card visual, measure [Voluntary]
- Funnel:  X 30  Y 240  W 596  H 198  -&gt;  Funnel chart: Funnel Requests Raised, Funnel Reached Processing, Funnel Process Completed, Funnel Service Charged, Funnel Posted to Travcom, Funnel Settled by Finance
- Monthly trend:  X 654  Y 240  W 596  H 198  -&gt;  Clustered column: X = Date[Month Short], Y = [Total Refunds]; line = [Funnel Posted to Travcom]
- Status breakdown:  X 30  Y 488  W 596  H 198  -&gt;  Table: Requests[Pipeline Status], [Total Refunds], [Amount Advised], [Approved Refund], [Profit], [% of Total Refunds]
- Disbursement type:  X 654  Y 488  W 596  H 198  -&gt;  Table: Requests[DISBURSEMENT TYPE], [Total Refunds], [% of Total Refunds], [Amount Advised], [Approved Refund], [Profit], [Profit Margin %], [Total TAT Avg Days]
- Year slicer:  X 1000  Y 20  W 92  H 34  -&gt;  Slicer (dropdown): Date[Year], header off
- Month slicer:  X 1162  Y 20  W 92  H 34  -&gt;  Slicer (dropdown): Date[Month], header off
Turn OFF the visual title and background on each visual - the card and its title are part of this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Turnaround - visual placement (Power BI px, canvas 1280 x 720)
- Stage 1 avg days card:  X 28  Y 142  W 184  H 50  -&gt;  Card, measure [Stage 1 Avg Days] (format 0.0 "d")
- Stage 2 avg days card:  X 236  Y 142  W 184  H 50  -&gt;  Card, measure [Stage 2 Avg Days] (format 0.0 "d")
- Stage 3 avg days card:  X 444  Y 142  W 184  H 50  -&gt;  Card, measure [Stage 3 Avg Days] (format 0.0 "d")
- Stage 4 avg days card:  X 652  Y 142  W 184  H 50  -&gt;  Card, measure [Stage 4 Avg Days] (format 0.0 "d")
- Total turnaround card:  X 860  Y 142  W 184  H 50  -&gt;  Card, measure [Total TAT Avg Days] (format 0.0 "d")
- Posted → settled card:  X 1068  Y 142  W 184  H 50  -&gt;  Card, measure [Avg Settlement Days] (format 0.0 "d")
- Turnaround table:  X 30  Y 240  W 748  H 238  -&gt;  Table with one row per stage: use the Stage N Completed / Avg Days / Fastest / Slowest / Outstanding / % Completed measures (or a field parameter over them)
- Average days by stage:  X 806  Y 240  W 444  H 238  -&gt;  Bar chart: the five Avg Days measures
- Turnaround trend:  X 30  Y 528  W 748  H 158  -&gt;  Line chart: X = Date[Month Short], Y = [Total TAT Avg Days], [Stage 1 Avg Days]
- Open refunds:  X 1004  Y 504  W 244  H 80  -&gt;  Card: [Open Refunds]  (subtitle: [Avg Open Age Days])
- Open over 14 days:  X 1004  Y 608  W 244  H 80  -&gt;  Card: [Open Over 14 Days]
Turn OFF the visual title and background on each visual - the card and its title are part of this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Performance - visual placement (Power BI px, canvas 1280 x 720)
- Amount Advised (₦) card:  X 28  Y 142  W 226  H 50  -&gt;  Card, measure [Amount Advised]
- Approved Refund (₦) card:  X 278  Y 142  W 226  H 50  -&gt;  Card, measure [Approved Refund]
- Total Profit (₦) card:  X 527  Y 142  W 226  H 50  -&gt;  Card, measure [Profit]
- Advised vs Approved card:  X 777  Y 142  W 226  H 50  -&gt;  Card, measure [Advised vs Approved %]
- Profit Margin card:  X 1026  Y 142  W 226  H 50  -&gt;  Card, measure [Profit Margin %]
- Advised vs approved:  X 30  Y 240  W 748  H 238  -&gt;  Clustered column: X = Date[Month Short], Y = [Amount Advised], [Approved Refund]; line = [Profit]
- Profit by refund type:  X 806  Y 240  W 444  H 238  -&gt;  Donut or bar: Requests[REFUND TYPE], [Profit]
- Disbursement table:  X 30  Y 528  W 1220  H 158  -&gt;  Table: Requests[DISBURSEMENT TYPE], [Total Refunds], [% of Total Refunds], [Amount Advised], [Approved Refund], [Profit], [Profit Margin %], [Total TAT Avg Days]
Turn OFF the visual title and background on each visual - the card and its title are part of this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Queue - visual placement (Power BI px, canvas 1280 x 720)
- Open Refunds card:  X 28  Y 142  W 288  H 50  -&gt;  Card, measure [Open Refunds]
- Awaiting Settlement card:  X 340  Y 142  W 288  H 50  -&gt;  Card, measure [Awaiting Settlement]
- Open over 14 days card:  X 652  Y 142  W 288  H 50  -&gt;  Card, measure [Open Over 14 Days]
- Avg open age (days) card:  X 964  Y 142  W 288  H 50  -&gt;  Card, measure [Avg Open Age Days]
- Open refunds table:  X 30  Y 240  W 828  H 446  -&gt;  Table filtered to Requests[Is Open] = True: S/N, REQUEST DATE, PAX NAME, CLIENT, AIRLINE, REFUND TYPE, Stage, Open Age Days (conditional format: &gt;14 orange, &gt;30 red). Set as drill-through source to Request Detail.
- Open by stage:  X 886  Y 240  W 364  H 198  -&gt;  Bar: Requests[Pipeline Status] (sorted by Status Order), [Open Refunds]
- Open by airline:  X 886  Y 488  W 364  H 198  -&gt;  Bar: Requests[AIRLINE], [Open Refunds], Top N 8
Turn OFF the visual title and background on each visual - the card and its title are part of this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&amp; Compliance - visual placement (Power BI px, canvas 1280 x 720)
- Portal actions card:  X 28  Y 142  W 288  H 50  -&gt;  Card, measure [Portal Actions]
- Status moves card:  X 340  Y 142  W 288  H 50  -&gt;  Card, measure [Status Moves]
- Settlements confirmed card:  X 652  Y 142  W 288  H 50  -&gt;  Card, measure [Settlements Confirmed]
- Reversals card:  X 964  Y 142  W 288  H 50  -&gt;  Card, measure [Reversals]
- Actions by user:  X 30  Y 240  W 596  H 198  -&gt;  Stacked bar: 'Audit Log'[USER], [Portal Actions], legend 'Audit Log'[ACTION]
- Actions over time:  X 654  Y 240  W 596  H 198  -&gt;  Column: 'Audit Log'[TIMESTAMP] (date hierarchy, day), [Portal Actions]
- Audit log table:  X 30  Y 488  W 1220  H 198  -&gt;  Table: TIMESTAMP, USER, REQUEST ID, ACTION, FROM, TO, DETAILS - sort TIMESTAMP descending
Turn OFF the visual title and background on each visual - the card and its title are part of this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Detail - visual placement (Power BI px, canvas 1280 x 720)
- Back button:  X 24  Y 68  W 112  H 26  -&gt;  Insert &gt; Buttons &gt; Back, fill off, text off (sits over the drawn "Back" pill)
- Request fields:  X 30  Y 140  W 388  H 546  -&gt;  Multi-row card or table (transposed): S/N, TXN ID, TICKET NUMBER, PAX NAME, CLIENT, AIRLINE, REFUND TYPE, ISSUED FROM, AMOUNT ADVICE TO THE CLIENT, REQUESTED BY, COMMENT
- Progress:  X 446  Y 140  W 804  H 158  -&gt;  Six cards in a row: REQUEST DATE, NOW PROCESSING, PROCESS DONE, SERVICE CHARGE DATE, PAYOUT COMPLETED, SETTLEMENT CONFIRMED
- Processing &amp; settlement:  X 446  Y 348  W 388  H 338  -&gt;  Multi-row card: Stage, DISBURSEMENT TYPE, APPROVED REFUND AMOUNT (NGN), PROFIT (NAIRA), BSP RA NO, SETTLEMENT OUTPUT, SETTLED BY, REFUND MANAGER / OPM REMARK
- Activity:  X 862  Y 348  W 388  H 338  -&gt;  Table from 'Audit Log' (relate 'Audit Log'[REQUEST ID] to Requests[S/N], or filter by it): TIMESTAMP, USER, ACTION, FROM, TO
- Drill-through field:  X 0  Y 0  W 0  H 0  -&gt;  Page settings: Page type = Drillthrough, drill-through field Requests[S/N]
Turn OFF the visual title and background on each visual - the card and its title are part of this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guide only - do not export it as a page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BI_PAGE_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5450" y="209550"/>
            <a:ext cx="0" cy="32385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228600" y="6648450"/>
            <a:ext cx="666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</a:rPr>
              <a:t>WGS  ·  Refund Operations  ·  Source: WGS Refund Tracker (Google Sheets)</a:t>
            </a:r>
            <a:endParaRPr lang="en-US" sz="750" dirty="0"/>
          </a:p>
        </p:txBody>
      </p:sp>
      <p:sp>
        <p:nvSpPr>
          <p:cNvPr id="6" name="Text 2"/>
          <p:cNvSpPr txBox="1"/>
          <p:nvPr/>
        </p:nvSpPr>
        <p:spPr>
          <a:xfrm>
            <a:off x="10058400" y="6648450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</a:rPr>
              <a:t>Refunds Analytics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457200"/>
            <a:ext cx="1095375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1"/>
          <p:cNvSpPr txBox="1"/>
          <p:nvPr/>
        </p:nvSpPr>
        <p:spPr>
          <a:xfrm>
            <a:off x="228600" y="1714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Request volume, pipeline position and where refunds settle</a:t>
            </a:r>
            <a:endParaRPr lang="en-US" sz="900" dirty="0"/>
          </a:p>
        </p:txBody>
      </p:sp>
      <p:sp>
        <p:nvSpPr>
          <p:cNvPr id="5" name="Slicer YEAR_2"/>
          <p:cNvSpPr/>
          <p:nvPr/>
        </p:nvSpPr>
        <p:spPr>
          <a:xfrm>
            <a:off x="899160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licer label_3"/>
          <p:cNvSpPr txBox="1"/>
          <p:nvPr/>
        </p:nvSpPr>
        <p:spPr>
          <a:xfrm>
            <a:off x="912495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YEAR</a:t>
            </a:r>
            <a:endParaRPr lang="en-US" sz="750" dirty="0"/>
          </a:p>
        </p:txBody>
      </p:sp>
      <p:sp>
        <p:nvSpPr>
          <p:cNvPr id="7" name="Slicer MONTH_4"/>
          <p:cNvSpPr/>
          <p:nvPr/>
        </p:nvSpPr>
        <p:spPr>
          <a:xfrm>
            <a:off x="1053465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licer label_5"/>
          <p:cNvSpPr txBox="1"/>
          <p:nvPr/>
        </p:nvSpPr>
        <p:spPr>
          <a:xfrm>
            <a:off x="1066800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MONTH</a:t>
            </a:r>
            <a:endParaRPr lang="en-US" sz="750" dirty="0"/>
          </a:p>
        </p:txBody>
      </p:sp>
      <p:sp>
        <p:nvSpPr>
          <p:cNvPr id="9" name="Nav Overview_6"/>
          <p:cNvSpPr/>
          <p:nvPr/>
        </p:nvSpPr>
        <p:spPr>
          <a:xfrm>
            <a:off x="228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Nav label Overview_7"/>
          <p:cNvSpPr txBox="1"/>
          <p:nvPr/>
        </p:nvSpPr>
        <p:spPr>
          <a:xfrm>
            <a:off x="228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Overview</a:t>
            </a:r>
            <a:endParaRPr lang="en-US" sz="900" dirty="0"/>
          </a:p>
        </p:txBody>
      </p:sp>
      <p:sp>
        <p:nvSpPr>
          <p:cNvPr id="11" name="Nav Turnaround_8"/>
          <p:cNvSpPr/>
          <p:nvPr/>
        </p:nvSpPr>
        <p:spPr>
          <a:xfrm>
            <a:off x="1371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Nav label Turnaround_9"/>
          <p:cNvSpPr txBox="1"/>
          <p:nvPr/>
        </p:nvSpPr>
        <p:spPr>
          <a:xfrm>
            <a:off x="1371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Turnaround</a:t>
            </a:r>
            <a:endParaRPr lang="en-US" sz="900" dirty="0"/>
          </a:p>
        </p:txBody>
      </p:sp>
      <p:sp>
        <p:nvSpPr>
          <p:cNvPr id="13" name="Nav Financial_10"/>
          <p:cNvSpPr/>
          <p:nvPr/>
        </p:nvSpPr>
        <p:spPr>
          <a:xfrm>
            <a:off x="2514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Nav label Financial_11"/>
          <p:cNvSpPr txBox="1"/>
          <p:nvPr/>
        </p:nvSpPr>
        <p:spPr>
          <a:xfrm>
            <a:off x="2514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Financial</a:t>
            </a:r>
            <a:endParaRPr lang="en-US" sz="900" dirty="0"/>
          </a:p>
        </p:txBody>
      </p:sp>
      <p:sp>
        <p:nvSpPr>
          <p:cNvPr id="15" name="Nav Operations_12"/>
          <p:cNvSpPr/>
          <p:nvPr/>
        </p:nvSpPr>
        <p:spPr>
          <a:xfrm>
            <a:off x="3657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Nav label Operations_13"/>
          <p:cNvSpPr txBox="1"/>
          <p:nvPr/>
        </p:nvSpPr>
        <p:spPr>
          <a:xfrm>
            <a:off x="3657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7" name="Nav Audit_14"/>
          <p:cNvSpPr/>
          <p:nvPr/>
        </p:nvSpPr>
        <p:spPr>
          <a:xfrm>
            <a:off x="4800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Nav label Audit_15"/>
          <p:cNvSpPr txBox="1"/>
          <p:nvPr/>
        </p:nvSpPr>
        <p:spPr>
          <a:xfrm>
            <a:off x="4800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Audit</a:t>
            </a:r>
            <a:endParaRPr lang="en-US" sz="900" dirty="0"/>
          </a:p>
        </p:txBody>
      </p:sp>
      <p:sp>
        <p:nvSpPr>
          <p:cNvPr id="19" name="Card TOTAL REFUNDS_16"/>
          <p:cNvSpPr/>
          <p:nvPr/>
        </p:nvSpPr>
        <p:spPr>
          <a:xfrm>
            <a:off x="228600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Title TOTAL REFUNDS_17"/>
          <p:cNvSpPr txBox="1"/>
          <p:nvPr/>
        </p:nvSpPr>
        <p:spPr>
          <a:xfrm>
            <a:off x="361950" y="1152525"/>
            <a:ext cx="1279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TOTAL REFUNDS</a:t>
            </a:r>
            <a:endParaRPr lang="en-US" sz="850" dirty="0"/>
          </a:p>
        </p:txBody>
      </p:sp>
      <p:sp>
        <p:nvSpPr>
          <p:cNvPr id="21" name="Card PENDING_18"/>
          <p:cNvSpPr/>
          <p:nvPr/>
        </p:nvSpPr>
        <p:spPr>
          <a:xfrm>
            <a:off x="1926771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2" name="Dot_19"/>
          <p:cNvSpPr/>
          <p:nvPr/>
        </p:nvSpPr>
        <p:spPr>
          <a:xfrm>
            <a:off x="2060121" y="1209675"/>
            <a:ext cx="76200" cy="76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itle PENDING_20"/>
          <p:cNvSpPr txBox="1"/>
          <p:nvPr/>
        </p:nvSpPr>
        <p:spPr>
          <a:xfrm>
            <a:off x="2193471" y="1152525"/>
            <a:ext cx="1145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PENDING</a:t>
            </a:r>
            <a:endParaRPr lang="en-US" sz="850" dirty="0"/>
          </a:p>
        </p:txBody>
      </p:sp>
      <p:sp>
        <p:nvSpPr>
          <p:cNvPr id="24" name="Card PROCESSING_21"/>
          <p:cNvSpPr/>
          <p:nvPr/>
        </p:nvSpPr>
        <p:spPr>
          <a:xfrm>
            <a:off x="3624943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5" name="Dot_22"/>
          <p:cNvSpPr/>
          <p:nvPr/>
        </p:nvSpPr>
        <p:spPr>
          <a:xfrm>
            <a:off x="3758293" y="1209675"/>
            <a:ext cx="76200" cy="76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itle PROCESSING_23"/>
          <p:cNvSpPr txBox="1"/>
          <p:nvPr/>
        </p:nvSpPr>
        <p:spPr>
          <a:xfrm>
            <a:off x="3891643" y="1152525"/>
            <a:ext cx="1145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PROCESSING</a:t>
            </a:r>
            <a:endParaRPr lang="en-US" sz="850" dirty="0"/>
          </a:p>
        </p:txBody>
      </p:sp>
      <p:sp>
        <p:nvSpPr>
          <p:cNvPr id="27" name="Card PROCESS DONE_24"/>
          <p:cNvSpPr/>
          <p:nvPr/>
        </p:nvSpPr>
        <p:spPr>
          <a:xfrm>
            <a:off x="5323114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8" name="Dot_25"/>
          <p:cNvSpPr/>
          <p:nvPr/>
        </p:nvSpPr>
        <p:spPr>
          <a:xfrm>
            <a:off x="5456464" y="1209675"/>
            <a:ext cx="76200" cy="76200"/>
          </a:xfrm>
          <a:prstGeom prst="ellipse">
            <a:avLst/>
          </a:prstGeom>
          <a:solidFill>
            <a:srgbClr val="7B4FBF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29" name="Title PROCESS DONE_26"/>
          <p:cNvSpPr txBox="1"/>
          <p:nvPr/>
        </p:nvSpPr>
        <p:spPr>
          <a:xfrm>
            <a:off x="5589814" y="1152525"/>
            <a:ext cx="1145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PROCESS DONE</a:t>
            </a:r>
            <a:endParaRPr lang="en-US" sz="850" dirty="0"/>
          </a:p>
        </p:txBody>
      </p:sp>
      <p:sp>
        <p:nvSpPr>
          <p:cNvPr id="30" name="Card SERVICE CHARGE_27"/>
          <p:cNvSpPr/>
          <p:nvPr/>
        </p:nvSpPr>
        <p:spPr>
          <a:xfrm>
            <a:off x="7021286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1" name="Dot_28"/>
          <p:cNvSpPr/>
          <p:nvPr/>
        </p:nvSpPr>
        <p:spPr>
          <a:xfrm>
            <a:off x="7154636" y="1209675"/>
            <a:ext cx="76200" cy="76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2" name="Title SERVICE CHARGE_29"/>
          <p:cNvSpPr txBox="1"/>
          <p:nvPr/>
        </p:nvSpPr>
        <p:spPr>
          <a:xfrm>
            <a:off x="7287986" y="1152525"/>
            <a:ext cx="1145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SERVICE CHARGE</a:t>
            </a:r>
            <a:endParaRPr lang="en-US" sz="850" dirty="0"/>
          </a:p>
        </p:txBody>
      </p:sp>
      <p:sp>
        <p:nvSpPr>
          <p:cNvPr id="33" name="Card POSTED_30"/>
          <p:cNvSpPr/>
          <p:nvPr/>
        </p:nvSpPr>
        <p:spPr>
          <a:xfrm>
            <a:off x="8719457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4" name="Dot_31"/>
          <p:cNvSpPr/>
          <p:nvPr/>
        </p:nvSpPr>
        <p:spPr>
          <a:xfrm>
            <a:off x="8852807" y="1209675"/>
            <a:ext cx="76200" cy="76200"/>
          </a:xfrm>
          <a:prstGeom prst="ellipse">
            <a:avLst/>
          </a:prstGeom>
          <a:solidFill>
            <a:srgbClr val="319F4E"/>
          </a:solidFill>
          <a:ln w="12700">
            <a:solidFill>
              <a:srgbClr val="319F4E"/>
            </a:solidFill>
            <a:prstDash val="solid"/>
          </a:ln>
        </p:spPr>
      </p:sp>
      <p:sp>
        <p:nvSpPr>
          <p:cNvPr id="35" name="Title POSTED_32"/>
          <p:cNvSpPr txBox="1"/>
          <p:nvPr/>
        </p:nvSpPr>
        <p:spPr>
          <a:xfrm>
            <a:off x="8986157" y="1152525"/>
            <a:ext cx="1145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POSTED</a:t>
            </a:r>
            <a:endParaRPr lang="en-US" sz="850" dirty="0"/>
          </a:p>
        </p:txBody>
      </p:sp>
      <p:sp>
        <p:nvSpPr>
          <p:cNvPr id="36" name="Card VOLUNTARY_33"/>
          <p:cNvSpPr/>
          <p:nvPr/>
        </p:nvSpPr>
        <p:spPr>
          <a:xfrm>
            <a:off x="10417629" y="1066800"/>
            <a:ext cx="1545771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7" name="Title VOLUNTARY_34"/>
          <p:cNvSpPr txBox="1"/>
          <p:nvPr/>
        </p:nvSpPr>
        <p:spPr>
          <a:xfrm>
            <a:off x="10550979" y="1152525"/>
            <a:ext cx="1279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VOLUNTARY</a:t>
            </a:r>
            <a:endParaRPr lang="en-US" sz="850" dirty="0"/>
          </a:p>
        </p:txBody>
      </p:sp>
      <p:sp>
        <p:nvSpPr>
          <p:cNvPr id="38" name="Card Stage completion funnel_35"/>
          <p:cNvSpPr/>
          <p:nvPr/>
        </p:nvSpPr>
        <p:spPr>
          <a:xfrm>
            <a:off x="228600" y="2019300"/>
            <a:ext cx="57912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9" name="Title Stage completion funnel_36"/>
          <p:cNvSpPr txBox="1"/>
          <p:nvPr/>
        </p:nvSpPr>
        <p:spPr>
          <a:xfrm>
            <a:off x="361950" y="2105025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Stage completion funnel</a:t>
            </a:r>
            <a:endParaRPr lang="en-US" sz="1050" dirty="0"/>
          </a:p>
        </p:txBody>
      </p:sp>
      <p:sp>
        <p:nvSpPr>
          <p:cNvPr id="40" name="Card Monthly trend_37"/>
          <p:cNvSpPr/>
          <p:nvPr/>
        </p:nvSpPr>
        <p:spPr>
          <a:xfrm>
            <a:off x="6172200" y="2019300"/>
            <a:ext cx="57912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41" name="Title Monthly trend_38"/>
          <p:cNvSpPr txBox="1"/>
          <p:nvPr/>
        </p:nvSpPr>
        <p:spPr>
          <a:xfrm>
            <a:off x="6305550" y="2105025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Monthly trend</a:t>
            </a:r>
            <a:endParaRPr lang="en-US" sz="1050" dirty="0"/>
          </a:p>
        </p:txBody>
      </p:sp>
      <p:sp>
        <p:nvSpPr>
          <p:cNvPr id="42" name="Card Status breakdown_39"/>
          <p:cNvSpPr/>
          <p:nvPr/>
        </p:nvSpPr>
        <p:spPr>
          <a:xfrm>
            <a:off x="228600" y="4381500"/>
            <a:ext cx="57912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43" name="Title Status breakdown_40"/>
          <p:cNvSpPr txBox="1"/>
          <p:nvPr/>
        </p:nvSpPr>
        <p:spPr>
          <a:xfrm>
            <a:off x="361950" y="4467225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Status breakdown</a:t>
            </a:r>
            <a:endParaRPr lang="en-US" sz="1050" dirty="0"/>
          </a:p>
        </p:txBody>
      </p:sp>
      <p:sp>
        <p:nvSpPr>
          <p:cNvPr id="44" name="Card Disbursement type_41"/>
          <p:cNvSpPr/>
          <p:nvPr/>
        </p:nvSpPr>
        <p:spPr>
          <a:xfrm>
            <a:off x="6172200" y="4381500"/>
            <a:ext cx="57912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45" name="Title Disbursement type_42"/>
          <p:cNvSpPr txBox="1"/>
          <p:nvPr/>
        </p:nvSpPr>
        <p:spPr>
          <a:xfrm>
            <a:off x="6305550" y="4467225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Disbursement type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43"/>
          <p:cNvSpPr txBox="1"/>
          <p:nvPr/>
        </p:nvSpPr>
        <p:spPr>
          <a:xfrm>
            <a:off x="228600" y="1714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Turnaround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Days taken at each stage, from request to posting and settlement</a:t>
            </a:r>
            <a:endParaRPr lang="en-US" sz="900" dirty="0"/>
          </a:p>
        </p:txBody>
      </p:sp>
      <p:sp>
        <p:nvSpPr>
          <p:cNvPr id="5" name="Slicer YEAR_44"/>
          <p:cNvSpPr/>
          <p:nvPr/>
        </p:nvSpPr>
        <p:spPr>
          <a:xfrm>
            <a:off x="899160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licer label_45"/>
          <p:cNvSpPr txBox="1"/>
          <p:nvPr/>
        </p:nvSpPr>
        <p:spPr>
          <a:xfrm>
            <a:off x="912495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YEAR</a:t>
            </a:r>
            <a:endParaRPr lang="en-US" sz="750" dirty="0"/>
          </a:p>
        </p:txBody>
      </p:sp>
      <p:sp>
        <p:nvSpPr>
          <p:cNvPr id="7" name="Slicer MONTH_46"/>
          <p:cNvSpPr/>
          <p:nvPr/>
        </p:nvSpPr>
        <p:spPr>
          <a:xfrm>
            <a:off x="1053465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licer label_47"/>
          <p:cNvSpPr txBox="1"/>
          <p:nvPr/>
        </p:nvSpPr>
        <p:spPr>
          <a:xfrm>
            <a:off x="1066800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MONTH</a:t>
            </a:r>
            <a:endParaRPr lang="en-US" sz="750" dirty="0"/>
          </a:p>
        </p:txBody>
      </p:sp>
      <p:sp>
        <p:nvSpPr>
          <p:cNvPr id="9" name="Nav Overview_48"/>
          <p:cNvSpPr/>
          <p:nvPr/>
        </p:nvSpPr>
        <p:spPr>
          <a:xfrm>
            <a:off x="228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Nav label Overview_49"/>
          <p:cNvSpPr txBox="1"/>
          <p:nvPr/>
        </p:nvSpPr>
        <p:spPr>
          <a:xfrm>
            <a:off x="228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Overview</a:t>
            </a:r>
            <a:endParaRPr lang="en-US" sz="900" dirty="0"/>
          </a:p>
        </p:txBody>
      </p:sp>
      <p:sp>
        <p:nvSpPr>
          <p:cNvPr id="11" name="Nav Turnaround_50"/>
          <p:cNvSpPr/>
          <p:nvPr/>
        </p:nvSpPr>
        <p:spPr>
          <a:xfrm>
            <a:off x="1371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Nav label Turnaround_51"/>
          <p:cNvSpPr txBox="1"/>
          <p:nvPr/>
        </p:nvSpPr>
        <p:spPr>
          <a:xfrm>
            <a:off x="1371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Turnaround</a:t>
            </a:r>
            <a:endParaRPr lang="en-US" sz="900" dirty="0"/>
          </a:p>
        </p:txBody>
      </p:sp>
      <p:sp>
        <p:nvSpPr>
          <p:cNvPr id="13" name="Nav Financial_52"/>
          <p:cNvSpPr/>
          <p:nvPr/>
        </p:nvSpPr>
        <p:spPr>
          <a:xfrm>
            <a:off x="2514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Nav label Financial_53"/>
          <p:cNvSpPr txBox="1"/>
          <p:nvPr/>
        </p:nvSpPr>
        <p:spPr>
          <a:xfrm>
            <a:off x="2514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Financial</a:t>
            </a:r>
            <a:endParaRPr lang="en-US" sz="900" dirty="0"/>
          </a:p>
        </p:txBody>
      </p:sp>
      <p:sp>
        <p:nvSpPr>
          <p:cNvPr id="15" name="Nav Operations_54"/>
          <p:cNvSpPr/>
          <p:nvPr/>
        </p:nvSpPr>
        <p:spPr>
          <a:xfrm>
            <a:off x="3657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Nav label Operations_55"/>
          <p:cNvSpPr txBox="1"/>
          <p:nvPr/>
        </p:nvSpPr>
        <p:spPr>
          <a:xfrm>
            <a:off x="3657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7" name="Nav Audit_56"/>
          <p:cNvSpPr/>
          <p:nvPr/>
        </p:nvSpPr>
        <p:spPr>
          <a:xfrm>
            <a:off x="4800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Nav label Audit_57"/>
          <p:cNvSpPr txBox="1"/>
          <p:nvPr/>
        </p:nvSpPr>
        <p:spPr>
          <a:xfrm>
            <a:off x="4800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Audit</a:t>
            </a:r>
            <a:endParaRPr lang="en-US" sz="900" dirty="0"/>
          </a:p>
        </p:txBody>
      </p:sp>
      <p:sp>
        <p:nvSpPr>
          <p:cNvPr id="19" name="Card STAGE 1 AVG DAYS_58"/>
          <p:cNvSpPr/>
          <p:nvPr/>
        </p:nvSpPr>
        <p:spPr>
          <a:xfrm>
            <a:off x="228600" y="1066800"/>
            <a:ext cx="18288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Title STAGE 1 AVG DAYS_59"/>
          <p:cNvSpPr txBox="1"/>
          <p:nvPr/>
        </p:nvSpPr>
        <p:spPr>
          <a:xfrm>
            <a:off x="361950" y="11525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STAGE 1 AVG DAYS</a:t>
            </a:r>
            <a:endParaRPr lang="en-US" sz="850" dirty="0"/>
          </a:p>
        </p:txBody>
      </p:sp>
      <p:sp>
        <p:nvSpPr>
          <p:cNvPr id="21" name="Card STAGE 2 AVG DAYS_60"/>
          <p:cNvSpPr/>
          <p:nvPr/>
        </p:nvSpPr>
        <p:spPr>
          <a:xfrm>
            <a:off x="2209800" y="1066800"/>
            <a:ext cx="18288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2" name="Title STAGE 2 AVG DAYS_61"/>
          <p:cNvSpPr txBox="1"/>
          <p:nvPr/>
        </p:nvSpPr>
        <p:spPr>
          <a:xfrm>
            <a:off x="2343150" y="11525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STAGE 2 AVG DAYS</a:t>
            </a:r>
            <a:endParaRPr lang="en-US" sz="850" dirty="0"/>
          </a:p>
        </p:txBody>
      </p:sp>
      <p:sp>
        <p:nvSpPr>
          <p:cNvPr id="23" name="Card STAGE 3 AVG DAYS_62"/>
          <p:cNvSpPr/>
          <p:nvPr/>
        </p:nvSpPr>
        <p:spPr>
          <a:xfrm>
            <a:off x="4191000" y="1066800"/>
            <a:ext cx="18288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4" name="Title STAGE 3 AVG DAYS_63"/>
          <p:cNvSpPr txBox="1"/>
          <p:nvPr/>
        </p:nvSpPr>
        <p:spPr>
          <a:xfrm>
            <a:off x="4324350" y="11525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STAGE 3 AVG DAYS</a:t>
            </a:r>
            <a:endParaRPr lang="en-US" sz="850" dirty="0"/>
          </a:p>
        </p:txBody>
      </p:sp>
      <p:sp>
        <p:nvSpPr>
          <p:cNvPr id="25" name="Card STAGE 4 AVG DAYS_64"/>
          <p:cNvSpPr/>
          <p:nvPr/>
        </p:nvSpPr>
        <p:spPr>
          <a:xfrm>
            <a:off x="6172200" y="1066800"/>
            <a:ext cx="18288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6" name="Title STAGE 4 AVG DAYS_65"/>
          <p:cNvSpPr txBox="1"/>
          <p:nvPr/>
        </p:nvSpPr>
        <p:spPr>
          <a:xfrm>
            <a:off x="6305550" y="11525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STAGE 4 AVG DAYS</a:t>
            </a:r>
            <a:endParaRPr lang="en-US" sz="850" dirty="0"/>
          </a:p>
        </p:txBody>
      </p:sp>
      <p:sp>
        <p:nvSpPr>
          <p:cNvPr id="27" name="Card TOTAL TURNAROUND_66"/>
          <p:cNvSpPr/>
          <p:nvPr/>
        </p:nvSpPr>
        <p:spPr>
          <a:xfrm>
            <a:off x="8153400" y="1066800"/>
            <a:ext cx="18288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8" name="Title TOTAL TURNAROUND_67"/>
          <p:cNvSpPr txBox="1"/>
          <p:nvPr/>
        </p:nvSpPr>
        <p:spPr>
          <a:xfrm>
            <a:off x="8286750" y="11525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TOTAL TURNAROUND</a:t>
            </a:r>
            <a:endParaRPr lang="en-US" sz="850" dirty="0"/>
          </a:p>
        </p:txBody>
      </p:sp>
      <p:sp>
        <p:nvSpPr>
          <p:cNvPr id="29" name="Card POSTED → SETTLED_68"/>
          <p:cNvSpPr/>
          <p:nvPr/>
        </p:nvSpPr>
        <p:spPr>
          <a:xfrm>
            <a:off x="10134600" y="1066800"/>
            <a:ext cx="18288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0" name="Title POSTED → SETTLED_69"/>
          <p:cNvSpPr txBox="1"/>
          <p:nvPr/>
        </p:nvSpPr>
        <p:spPr>
          <a:xfrm>
            <a:off x="10267950" y="11525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POSTED → SETTLED</a:t>
            </a:r>
            <a:endParaRPr lang="en-US" sz="850" dirty="0"/>
          </a:p>
        </p:txBody>
      </p:sp>
      <p:sp>
        <p:nvSpPr>
          <p:cNvPr id="31" name="Card Stage turnaround (days)_70"/>
          <p:cNvSpPr/>
          <p:nvPr/>
        </p:nvSpPr>
        <p:spPr>
          <a:xfrm>
            <a:off x="228600" y="2019300"/>
            <a:ext cx="7239000" cy="259080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2" name="Title Stage turnaround (days)_71"/>
          <p:cNvSpPr txBox="1"/>
          <p:nvPr/>
        </p:nvSpPr>
        <p:spPr>
          <a:xfrm>
            <a:off x="361950" y="2105025"/>
            <a:ext cx="697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Stage turnaround (days)</a:t>
            </a:r>
            <a:endParaRPr lang="en-US" sz="1050" dirty="0"/>
          </a:p>
        </p:txBody>
      </p:sp>
      <p:sp>
        <p:nvSpPr>
          <p:cNvPr id="33" name="Card Average days by stage_72"/>
          <p:cNvSpPr/>
          <p:nvPr/>
        </p:nvSpPr>
        <p:spPr>
          <a:xfrm>
            <a:off x="7620000" y="2019300"/>
            <a:ext cx="4343400" cy="259080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4" name="Title Average days by stage_73"/>
          <p:cNvSpPr txBox="1"/>
          <p:nvPr/>
        </p:nvSpPr>
        <p:spPr>
          <a:xfrm>
            <a:off x="7753350" y="2105025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Average days by stage</a:t>
            </a:r>
            <a:endParaRPr lang="en-US" sz="1050" dirty="0"/>
          </a:p>
        </p:txBody>
      </p:sp>
      <p:sp>
        <p:nvSpPr>
          <p:cNvPr id="35" name="Card Turnaround trend by month_74"/>
          <p:cNvSpPr/>
          <p:nvPr/>
        </p:nvSpPr>
        <p:spPr>
          <a:xfrm>
            <a:off x="228600" y="4762500"/>
            <a:ext cx="7239000" cy="18288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6" name="Title Turnaround trend by month_75"/>
          <p:cNvSpPr txBox="1"/>
          <p:nvPr/>
        </p:nvSpPr>
        <p:spPr>
          <a:xfrm>
            <a:off x="361950" y="4848225"/>
            <a:ext cx="697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Turnaround trend by month</a:t>
            </a:r>
            <a:endParaRPr lang="en-US" sz="1050" dirty="0"/>
          </a:p>
        </p:txBody>
      </p:sp>
      <p:sp>
        <p:nvSpPr>
          <p:cNvPr id="37" name="Card OPEN REFUNDS_76"/>
          <p:cNvSpPr/>
          <p:nvPr/>
        </p:nvSpPr>
        <p:spPr>
          <a:xfrm>
            <a:off x="7620000" y="4762500"/>
            <a:ext cx="4343400" cy="8382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8" name="Dot_77"/>
          <p:cNvSpPr/>
          <p:nvPr/>
        </p:nvSpPr>
        <p:spPr>
          <a:xfrm>
            <a:off x="7753350" y="4905375"/>
            <a:ext cx="76200" cy="76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itle OPEN REFUNDS_78"/>
          <p:cNvSpPr txBox="1"/>
          <p:nvPr/>
        </p:nvSpPr>
        <p:spPr>
          <a:xfrm>
            <a:off x="7886700" y="4848225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OPEN REFUNDS</a:t>
            </a:r>
            <a:endParaRPr lang="en-US" sz="850" dirty="0"/>
          </a:p>
        </p:txBody>
      </p:sp>
      <p:sp>
        <p:nvSpPr>
          <p:cNvPr id="40" name="Card OPEN OVER 14 DAYS_79"/>
          <p:cNvSpPr/>
          <p:nvPr/>
        </p:nvSpPr>
        <p:spPr>
          <a:xfrm>
            <a:off x="7620000" y="5753100"/>
            <a:ext cx="4343400" cy="8382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41" name="Dot_80"/>
          <p:cNvSpPr/>
          <p:nvPr/>
        </p:nvSpPr>
        <p:spPr>
          <a:xfrm>
            <a:off x="7753350" y="5895975"/>
            <a:ext cx="76200" cy="76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2" name="Title OPEN OVER 14 DAYS_81"/>
          <p:cNvSpPr txBox="1"/>
          <p:nvPr/>
        </p:nvSpPr>
        <p:spPr>
          <a:xfrm>
            <a:off x="7886700" y="5838825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OPEN OVER 14 DAYS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82"/>
          <p:cNvSpPr txBox="1"/>
          <p:nvPr/>
        </p:nvSpPr>
        <p:spPr>
          <a:xfrm>
            <a:off x="228600" y="1714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What was advised, approved and earned, and how refunds were settled</a:t>
            </a:r>
            <a:endParaRPr lang="en-US" sz="900" dirty="0"/>
          </a:p>
        </p:txBody>
      </p:sp>
      <p:sp>
        <p:nvSpPr>
          <p:cNvPr id="5" name="Slicer YEAR_83"/>
          <p:cNvSpPr/>
          <p:nvPr/>
        </p:nvSpPr>
        <p:spPr>
          <a:xfrm>
            <a:off x="899160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licer label_84"/>
          <p:cNvSpPr txBox="1"/>
          <p:nvPr/>
        </p:nvSpPr>
        <p:spPr>
          <a:xfrm>
            <a:off x="912495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YEAR</a:t>
            </a:r>
            <a:endParaRPr lang="en-US" sz="750" dirty="0"/>
          </a:p>
        </p:txBody>
      </p:sp>
      <p:sp>
        <p:nvSpPr>
          <p:cNvPr id="7" name="Slicer MONTH_85"/>
          <p:cNvSpPr/>
          <p:nvPr/>
        </p:nvSpPr>
        <p:spPr>
          <a:xfrm>
            <a:off x="1053465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licer label_86"/>
          <p:cNvSpPr txBox="1"/>
          <p:nvPr/>
        </p:nvSpPr>
        <p:spPr>
          <a:xfrm>
            <a:off x="1066800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MONTH</a:t>
            </a:r>
            <a:endParaRPr lang="en-US" sz="750" dirty="0"/>
          </a:p>
        </p:txBody>
      </p:sp>
      <p:sp>
        <p:nvSpPr>
          <p:cNvPr id="9" name="Nav Overview_87"/>
          <p:cNvSpPr/>
          <p:nvPr/>
        </p:nvSpPr>
        <p:spPr>
          <a:xfrm>
            <a:off x="228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Nav label Overview_88"/>
          <p:cNvSpPr txBox="1"/>
          <p:nvPr/>
        </p:nvSpPr>
        <p:spPr>
          <a:xfrm>
            <a:off x="228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Overview</a:t>
            </a:r>
            <a:endParaRPr lang="en-US" sz="900" dirty="0"/>
          </a:p>
        </p:txBody>
      </p:sp>
      <p:sp>
        <p:nvSpPr>
          <p:cNvPr id="11" name="Nav Turnaround_89"/>
          <p:cNvSpPr/>
          <p:nvPr/>
        </p:nvSpPr>
        <p:spPr>
          <a:xfrm>
            <a:off x="1371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Nav label Turnaround_90"/>
          <p:cNvSpPr txBox="1"/>
          <p:nvPr/>
        </p:nvSpPr>
        <p:spPr>
          <a:xfrm>
            <a:off x="1371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Turnaround</a:t>
            </a:r>
            <a:endParaRPr lang="en-US" sz="900" dirty="0"/>
          </a:p>
        </p:txBody>
      </p:sp>
      <p:sp>
        <p:nvSpPr>
          <p:cNvPr id="13" name="Nav Financial_91"/>
          <p:cNvSpPr/>
          <p:nvPr/>
        </p:nvSpPr>
        <p:spPr>
          <a:xfrm>
            <a:off x="2514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Nav label Financial_92"/>
          <p:cNvSpPr txBox="1"/>
          <p:nvPr/>
        </p:nvSpPr>
        <p:spPr>
          <a:xfrm>
            <a:off x="2514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Financial</a:t>
            </a:r>
            <a:endParaRPr lang="en-US" sz="900" dirty="0"/>
          </a:p>
        </p:txBody>
      </p:sp>
      <p:sp>
        <p:nvSpPr>
          <p:cNvPr id="15" name="Nav Operations_93"/>
          <p:cNvSpPr/>
          <p:nvPr/>
        </p:nvSpPr>
        <p:spPr>
          <a:xfrm>
            <a:off x="3657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Nav label Operations_94"/>
          <p:cNvSpPr txBox="1"/>
          <p:nvPr/>
        </p:nvSpPr>
        <p:spPr>
          <a:xfrm>
            <a:off x="3657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7" name="Nav Audit_95"/>
          <p:cNvSpPr/>
          <p:nvPr/>
        </p:nvSpPr>
        <p:spPr>
          <a:xfrm>
            <a:off x="4800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Nav label Audit_96"/>
          <p:cNvSpPr txBox="1"/>
          <p:nvPr/>
        </p:nvSpPr>
        <p:spPr>
          <a:xfrm>
            <a:off x="4800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Audit</a:t>
            </a:r>
            <a:endParaRPr lang="en-US" sz="900" dirty="0"/>
          </a:p>
        </p:txBody>
      </p:sp>
      <p:sp>
        <p:nvSpPr>
          <p:cNvPr id="19" name="Card AMOUNT ADVISED (₦)_97"/>
          <p:cNvSpPr/>
          <p:nvPr/>
        </p:nvSpPr>
        <p:spPr>
          <a:xfrm>
            <a:off x="228600" y="1066800"/>
            <a:ext cx="222504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Title AMOUNT ADVISED (₦)_98"/>
          <p:cNvSpPr txBox="1"/>
          <p:nvPr/>
        </p:nvSpPr>
        <p:spPr>
          <a:xfrm>
            <a:off x="361950" y="1152525"/>
            <a:ext cx="1958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AMOUNT ADVISED (₦)</a:t>
            </a:r>
            <a:endParaRPr lang="en-US" sz="850" dirty="0"/>
          </a:p>
        </p:txBody>
      </p:sp>
      <p:sp>
        <p:nvSpPr>
          <p:cNvPr id="21" name="Card APPROVED REFUND (₦)_99"/>
          <p:cNvSpPr/>
          <p:nvPr/>
        </p:nvSpPr>
        <p:spPr>
          <a:xfrm>
            <a:off x="2606040" y="1066800"/>
            <a:ext cx="222504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2" name="Title APPROVED REFUND (₦)_100"/>
          <p:cNvSpPr txBox="1"/>
          <p:nvPr/>
        </p:nvSpPr>
        <p:spPr>
          <a:xfrm>
            <a:off x="2739390" y="1152525"/>
            <a:ext cx="1958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APPROVED REFUND (₦)</a:t>
            </a:r>
            <a:endParaRPr lang="en-US" sz="850" dirty="0"/>
          </a:p>
        </p:txBody>
      </p:sp>
      <p:sp>
        <p:nvSpPr>
          <p:cNvPr id="23" name="Card TOTAL PROFIT (₦)_101"/>
          <p:cNvSpPr/>
          <p:nvPr/>
        </p:nvSpPr>
        <p:spPr>
          <a:xfrm>
            <a:off x="4983480" y="1066800"/>
            <a:ext cx="222504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4" name="Dot_102"/>
          <p:cNvSpPr/>
          <p:nvPr/>
        </p:nvSpPr>
        <p:spPr>
          <a:xfrm>
            <a:off x="5116830" y="1209675"/>
            <a:ext cx="76200" cy="76200"/>
          </a:xfrm>
          <a:prstGeom prst="ellipse">
            <a:avLst/>
          </a:prstGeom>
          <a:solidFill>
            <a:srgbClr val="319F4E"/>
          </a:solidFill>
          <a:ln w="12700">
            <a:solidFill>
              <a:srgbClr val="319F4E"/>
            </a:solidFill>
            <a:prstDash val="solid"/>
          </a:ln>
        </p:spPr>
      </p:sp>
      <p:sp>
        <p:nvSpPr>
          <p:cNvPr id="25" name="Title TOTAL PROFIT (₦)_103"/>
          <p:cNvSpPr txBox="1"/>
          <p:nvPr/>
        </p:nvSpPr>
        <p:spPr>
          <a:xfrm>
            <a:off x="5250180" y="1152525"/>
            <a:ext cx="18249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TOTAL PROFIT (₦)</a:t>
            </a:r>
            <a:endParaRPr lang="en-US" sz="850" dirty="0"/>
          </a:p>
        </p:txBody>
      </p:sp>
      <p:sp>
        <p:nvSpPr>
          <p:cNvPr id="26" name="Card ADVISED VS APPROVED_104"/>
          <p:cNvSpPr/>
          <p:nvPr/>
        </p:nvSpPr>
        <p:spPr>
          <a:xfrm>
            <a:off x="7360920" y="1066800"/>
            <a:ext cx="222504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7" name="Title ADVISED VS APPROVED_105"/>
          <p:cNvSpPr txBox="1"/>
          <p:nvPr/>
        </p:nvSpPr>
        <p:spPr>
          <a:xfrm>
            <a:off x="7494270" y="1152525"/>
            <a:ext cx="1958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ADVISED VS APPROVED</a:t>
            </a:r>
            <a:endParaRPr lang="en-US" sz="850" dirty="0"/>
          </a:p>
        </p:txBody>
      </p:sp>
      <p:sp>
        <p:nvSpPr>
          <p:cNvPr id="28" name="Card PROFIT MARGIN_106"/>
          <p:cNvSpPr/>
          <p:nvPr/>
        </p:nvSpPr>
        <p:spPr>
          <a:xfrm>
            <a:off x="9738360" y="1066800"/>
            <a:ext cx="222504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9" name="Dot_107"/>
          <p:cNvSpPr/>
          <p:nvPr/>
        </p:nvSpPr>
        <p:spPr>
          <a:xfrm>
            <a:off x="9871710" y="1209675"/>
            <a:ext cx="76200" cy="76200"/>
          </a:xfrm>
          <a:prstGeom prst="ellipse">
            <a:avLst/>
          </a:prstGeom>
          <a:solidFill>
            <a:srgbClr val="319F4E"/>
          </a:solidFill>
          <a:ln w="12700">
            <a:solidFill>
              <a:srgbClr val="319F4E"/>
            </a:solidFill>
            <a:prstDash val="solid"/>
          </a:ln>
        </p:spPr>
      </p:sp>
      <p:sp>
        <p:nvSpPr>
          <p:cNvPr id="30" name="Title PROFIT MARGIN_108"/>
          <p:cNvSpPr txBox="1"/>
          <p:nvPr/>
        </p:nvSpPr>
        <p:spPr>
          <a:xfrm>
            <a:off x="10005060" y="1152525"/>
            <a:ext cx="18249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PROFIT MARGIN</a:t>
            </a:r>
            <a:endParaRPr lang="en-US" sz="850" dirty="0"/>
          </a:p>
        </p:txBody>
      </p:sp>
      <p:sp>
        <p:nvSpPr>
          <p:cNvPr id="31" name="Card Advised vs approved by month_109"/>
          <p:cNvSpPr/>
          <p:nvPr/>
        </p:nvSpPr>
        <p:spPr>
          <a:xfrm>
            <a:off x="228600" y="2019300"/>
            <a:ext cx="7239000" cy="259080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2" name="Title Advised vs approved by month_110"/>
          <p:cNvSpPr txBox="1"/>
          <p:nvPr/>
        </p:nvSpPr>
        <p:spPr>
          <a:xfrm>
            <a:off x="361950" y="2105025"/>
            <a:ext cx="697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Advised vs approved by month</a:t>
            </a:r>
            <a:endParaRPr lang="en-US" sz="1050" dirty="0"/>
          </a:p>
        </p:txBody>
      </p:sp>
      <p:sp>
        <p:nvSpPr>
          <p:cNvPr id="33" name="Card Profit by refund type_111"/>
          <p:cNvSpPr/>
          <p:nvPr/>
        </p:nvSpPr>
        <p:spPr>
          <a:xfrm>
            <a:off x="7620000" y="2019300"/>
            <a:ext cx="4343400" cy="259080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4" name="Title Profit by refund type_112"/>
          <p:cNvSpPr txBox="1"/>
          <p:nvPr/>
        </p:nvSpPr>
        <p:spPr>
          <a:xfrm>
            <a:off x="7753350" y="2105025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Profit by refund type</a:t>
            </a:r>
            <a:endParaRPr lang="en-US" sz="1050" dirty="0"/>
          </a:p>
        </p:txBody>
      </p:sp>
      <p:sp>
        <p:nvSpPr>
          <p:cNvPr id="35" name="Card Disbursement type_113"/>
          <p:cNvSpPr/>
          <p:nvPr/>
        </p:nvSpPr>
        <p:spPr>
          <a:xfrm>
            <a:off x="228600" y="4762500"/>
            <a:ext cx="11734800" cy="18288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6" name="Title Disbursement type_114"/>
          <p:cNvSpPr txBox="1"/>
          <p:nvPr/>
        </p:nvSpPr>
        <p:spPr>
          <a:xfrm>
            <a:off x="361950" y="4848225"/>
            <a:ext cx="11468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Disbursement type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115"/>
          <p:cNvSpPr txBox="1"/>
          <p:nvPr/>
        </p:nvSpPr>
        <p:spPr>
          <a:xfrm>
            <a:off x="228600" y="1714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Queue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Refunds still in progress, who they are waiting on and for how long</a:t>
            </a:r>
            <a:endParaRPr lang="en-US" sz="900" dirty="0"/>
          </a:p>
        </p:txBody>
      </p:sp>
      <p:sp>
        <p:nvSpPr>
          <p:cNvPr id="5" name="Slicer YEAR_116"/>
          <p:cNvSpPr/>
          <p:nvPr/>
        </p:nvSpPr>
        <p:spPr>
          <a:xfrm>
            <a:off x="899160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licer label_117"/>
          <p:cNvSpPr txBox="1"/>
          <p:nvPr/>
        </p:nvSpPr>
        <p:spPr>
          <a:xfrm>
            <a:off x="912495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YEAR</a:t>
            </a:r>
            <a:endParaRPr lang="en-US" sz="750" dirty="0"/>
          </a:p>
        </p:txBody>
      </p:sp>
      <p:sp>
        <p:nvSpPr>
          <p:cNvPr id="7" name="Slicer MONTH_118"/>
          <p:cNvSpPr/>
          <p:nvPr/>
        </p:nvSpPr>
        <p:spPr>
          <a:xfrm>
            <a:off x="1053465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licer label_119"/>
          <p:cNvSpPr txBox="1"/>
          <p:nvPr/>
        </p:nvSpPr>
        <p:spPr>
          <a:xfrm>
            <a:off x="1066800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MONTH</a:t>
            </a:r>
            <a:endParaRPr lang="en-US" sz="750" dirty="0"/>
          </a:p>
        </p:txBody>
      </p:sp>
      <p:sp>
        <p:nvSpPr>
          <p:cNvPr id="9" name="Nav Overview_120"/>
          <p:cNvSpPr/>
          <p:nvPr/>
        </p:nvSpPr>
        <p:spPr>
          <a:xfrm>
            <a:off x="228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Nav label Overview_121"/>
          <p:cNvSpPr txBox="1"/>
          <p:nvPr/>
        </p:nvSpPr>
        <p:spPr>
          <a:xfrm>
            <a:off x="228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Overview</a:t>
            </a:r>
            <a:endParaRPr lang="en-US" sz="900" dirty="0"/>
          </a:p>
        </p:txBody>
      </p:sp>
      <p:sp>
        <p:nvSpPr>
          <p:cNvPr id="11" name="Nav Turnaround_122"/>
          <p:cNvSpPr/>
          <p:nvPr/>
        </p:nvSpPr>
        <p:spPr>
          <a:xfrm>
            <a:off x="1371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Nav label Turnaround_123"/>
          <p:cNvSpPr txBox="1"/>
          <p:nvPr/>
        </p:nvSpPr>
        <p:spPr>
          <a:xfrm>
            <a:off x="1371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Turnaround</a:t>
            </a:r>
            <a:endParaRPr lang="en-US" sz="900" dirty="0"/>
          </a:p>
        </p:txBody>
      </p:sp>
      <p:sp>
        <p:nvSpPr>
          <p:cNvPr id="13" name="Nav Financial_124"/>
          <p:cNvSpPr/>
          <p:nvPr/>
        </p:nvSpPr>
        <p:spPr>
          <a:xfrm>
            <a:off x="2514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Nav label Financial_125"/>
          <p:cNvSpPr txBox="1"/>
          <p:nvPr/>
        </p:nvSpPr>
        <p:spPr>
          <a:xfrm>
            <a:off x="2514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Financial</a:t>
            </a:r>
            <a:endParaRPr lang="en-US" sz="900" dirty="0"/>
          </a:p>
        </p:txBody>
      </p:sp>
      <p:sp>
        <p:nvSpPr>
          <p:cNvPr id="15" name="Nav Operations_126"/>
          <p:cNvSpPr/>
          <p:nvPr/>
        </p:nvSpPr>
        <p:spPr>
          <a:xfrm>
            <a:off x="3657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Nav label Operations_127"/>
          <p:cNvSpPr txBox="1"/>
          <p:nvPr/>
        </p:nvSpPr>
        <p:spPr>
          <a:xfrm>
            <a:off x="3657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7" name="Nav Audit_128"/>
          <p:cNvSpPr/>
          <p:nvPr/>
        </p:nvSpPr>
        <p:spPr>
          <a:xfrm>
            <a:off x="4800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8" name="Nav label Audit_129"/>
          <p:cNvSpPr txBox="1"/>
          <p:nvPr/>
        </p:nvSpPr>
        <p:spPr>
          <a:xfrm>
            <a:off x="4800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Audit</a:t>
            </a:r>
            <a:endParaRPr lang="en-US" sz="900" dirty="0"/>
          </a:p>
        </p:txBody>
      </p:sp>
      <p:sp>
        <p:nvSpPr>
          <p:cNvPr id="19" name="Card OPEN REFUNDS_130"/>
          <p:cNvSpPr/>
          <p:nvPr/>
        </p:nvSpPr>
        <p:spPr>
          <a:xfrm>
            <a:off x="2286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Dot_131"/>
          <p:cNvSpPr/>
          <p:nvPr/>
        </p:nvSpPr>
        <p:spPr>
          <a:xfrm>
            <a:off x="361950" y="1209675"/>
            <a:ext cx="76200" cy="76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itle OPEN REFUNDS_132"/>
          <p:cNvSpPr txBox="1"/>
          <p:nvPr/>
        </p:nvSpPr>
        <p:spPr>
          <a:xfrm>
            <a:off x="495300" y="11525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OPEN REFUNDS</a:t>
            </a:r>
            <a:endParaRPr lang="en-US" sz="850" dirty="0"/>
          </a:p>
        </p:txBody>
      </p:sp>
      <p:sp>
        <p:nvSpPr>
          <p:cNvPr id="22" name="Card AWAITING SETTLEMENT_133"/>
          <p:cNvSpPr/>
          <p:nvPr/>
        </p:nvSpPr>
        <p:spPr>
          <a:xfrm>
            <a:off x="32004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3" name="Dot_134"/>
          <p:cNvSpPr/>
          <p:nvPr/>
        </p:nvSpPr>
        <p:spPr>
          <a:xfrm>
            <a:off x="3333750" y="1209675"/>
            <a:ext cx="76200" cy="76200"/>
          </a:xfrm>
          <a:prstGeom prst="ellipse">
            <a:avLst/>
          </a:prstGeom>
          <a:solidFill>
            <a:srgbClr val="319F4E"/>
          </a:solidFill>
          <a:ln w="12700">
            <a:solidFill>
              <a:srgbClr val="319F4E"/>
            </a:solidFill>
            <a:prstDash val="solid"/>
          </a:ln>
        </p:spPr>
      </p:sp>
      <p:sp>
        <p:nvSpPr>
          <p:cNvPr id="24" name="Title AWAITING SETTLEMENT_135"/>
          <p:cNvSpPr txBox="1"/>
          <p:nvPr/>
        </p:nvSpPr>
        <p:spPr>
          <a:xfrm>
            <a:off x="3467100" y="11525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AWAITING SETTLEMENT</a:t>
            </a:r>
            <a:endParaRPr lang="en-US" sz="850" dirty="0"/>
          </a:p>
        </p:txBody>
      </p:sp>
      <p:sp>
        <p:nvSpPr>
          <p:cNvPr id="25" name="Card OPEN OVER 14 DAYS_136"/>
          <p:cNvSpPr/>
          <p:nvPr/>
        </p:nvSpPr>
        <p:spPr>
          <a:xfrm>
            <a:off x="61722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6" name="Dot_137"/>
          <p:cNvSpPr/>
          <p:nvPr/>
        </p:nvSpPr>
        <p:spPr>
          <a:xfrm>
            <a:off x="6305550" y="1209675"/>
            <a:ext cx="76200" cy="76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itle OPEN OVER 14 DAYS_138"/>
          <p:cNvSpPr txBox="1"/>
          <p:nvPr/>
        </p:nvSpPr>
        <p:spPr>
          <a:xfrm>
            <a:off x="6438900" y="11525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OPEN OVER 14 DAYS</a:t>
            </a:r>
            <a:endParaRPr lang="en-US" sz="850" dirty="0"/>
          </a:p>
        </p:txBody>
      </p:sp>
      <p:sp>
        <p:nvSpPr>
          <p:cNvPr id="28" name="Card AVG OPEN AGE (DAYS)_139"/>
          <p:cNvSpPr/>
          <p:nvPr/>
        </p:nvSpPr>
        <p:spPr>
          <a:xfrm>
            <a:off x="91440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9" name="Title AVG OPEN AGE (DAYS)_140"/>
          <p:cNvSpPr txBox="1"/>
          <p:nvPr/>
        </p:nvSpPr>
        <p:spPr>
          <a:xfrm>
            <a:off x="9277350" y="11525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AVG OPEN AGE (DAYS)</a:t>
            </a:r>
            <a:endParaRPr lang="en-US" sz="850" dirty="0"/>
          </a:p>
        </p:txBody>
      </p:sp>
      <p:sp>
        <p:nvSpPr>
          <p:cNvPr id="30" name="Card Open refunds_141"/>
          <p:cNvSpPr/>
          <p:nvPr/>
        </p:nvSpPr>
        <p:spPr>
          <a:xfrm>
            <a:off x="228600" y="2019300"/>
            <a:ext cx="8001000" cy="457200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1" name="Title Open refunds_142"/>
          <p:cNvSpPr txBox="1"/>
          <p:nvPr/>
        </p:nvSpPr>
        <p:spPr>
          <a:xfrm>
            <a:off x="361950" y="2105025"/>
            <a:ext cx="773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Open refunds</a:t>
            </a:r>
            <a:endParaRPr lang="en-US" sz="1050" dirty="0"/>
          </a:p>
        </p:txBody>
      </p:sp>
      <p:sp>
        <p:nvSpPr>
          <p:cNvPr id="32" name="Card Open by stage_143"/>
          <p:cNvSpPr/>
          <p:nvPr/>
        </p:nvSpPr>
        <p:spPr>
          <a:xfrm>
            <a:off x="8382000" y="2019300"/>
            <a:ext cx="35814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3" name="Title Open by stage_144"/>
          <p:cNvSpPr txBox="1"/>
          <p:nvPr/>
        </p:nvSpPr>
        <p:spPr>
          <a:xfrm>
            <a:off x="8515350" y="2105025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Open by stage</a:t>
            </a:r>
            <a:endParaRPr lang="en-US" sz="1050" dirty="0"/>
          </a:p>
        </p:txBody>
      </p:sp>
      <p:sp>
        <p:nvSpPr>
          <p:cNvPr id="34" name="Card Open by airline_145"/>
          <p:cNvSpPr/>
          <p:nvPr/>
        </p:nvSpPr>
        <p:spPr>
          <a:xfrm>
            <a:off x="8382000" y="4381500"/>
            <a:ext cx="35814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5" name="Title Open by airline_146"/>
          <p:cNvSpPr txBox="1"/>
          <p:nvPr/>
        </p:nvSpPr>
        <p:spPr>
          <a:xfrm>
            <a:off x="8515350" y="4467225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Open by airline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147"/>
          <p:cNvSpPr txBox="1"/>
          <p:nvPr/>
        </p:nvSpPr>
        <p:spPr>
          <a:xfrm>
            <a:off x="228600" y="1714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Compliance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Every action taken in the Refund Portal, including super-admin reversals</a:t>
            </a:r>
            <a:endParaRPr lang="en-US" sz="900" dirty="0"/>
          </a:p>
        </p:txBody>
      </p:sp>
      <p:sp>
        <p:nvSpPr>
          <p:cNvPr id="5" name="Slicer YEAR_148"/>
          <p:cNvSpPr/>
          <p:nvPr/>
        </p:nvSpPr>
        <p:spPr>
          <a:xfrm>
            <a:off x="899160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Slicer label_149"/>
          <p:cNvSpPr txBox="1"/>
          <p:nvPr/>
        </p:nvSpPr>
        <p:spPr>
          <a:xfrm>
            <a:off x="912495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YEAR</a:t>
            </a:r>
            <a:endParaRPr lang="en-US" sz="750" dirty="0"/>
          </a:p>
        </p:txBody>
      </p:sp>
      <p:sp>
        <p:nvSpPr>
          <p:cNvPr id="7" name="Slicer MONTH_150"/>
          <p:cNvSpPr/>
          <p:nvPr/>
        </p:nvSpPr>
        <p:spPr>
          <a:xfrm>
            <a:off x="10534650" y="171450"/>
            <a:ext cx="1428750" cy="3619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Slicer label_151"/>
          <p:cNvSpPr txBox="1"/>
          <p:nvPr/>
        </p:nvSpPr>
        <p:spPr>
          <a:xfrm>
            <a:off x="10668000" y="171450"/>
            <a:ext cx="4381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MONTH</a:t>
            </a:r>
            <a:endParaRPr lang="en-US" sz="750" dirty="0"/>
          </a:p>
        </p:txBody>
      </p:sp>
      <p:sp>
        <p:nvSpPr>
          <p:cNvPr id="9" name="Nav Overview_152"/>
          <p:cNvSpPr/>
          <p:nvPr/>
        </p:nvSpPr>
        <p:spPr>
          <a:xfrm>
            <a:off x="228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Nav label Overview_153"/>
          <p:cNvSpPr txBox="1"/>
          <p:nvPr/>
        </p:nvSpPr>
        <p:spPr>
          <a:xfrm>
            <a:off x="228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Overview</a:t>
            </a:r>
            <a:endParaRPr lang="en-US" sz="900" dirty="0"/>
          </a:p>
        </p:txBody>
      </p:sp>
      <p:sp>
        <p:nvSpPr>
          <p:cNvPr id="11" name="Nav Turnaround_154"/>
          <p:cNvSpPr/>
          <p:nvPr/>
        </p:nvSpPr>
        <p:spPr>
          <a:xfrm>
            <a:off x="1371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Nav label Turnaround_155"/>
          <p:cNvSpPr txBox="1"/>
          <p:nvPr/>
        </p:nvSpPr>
        <p:spPr>
          <a:xfrm>
            <a:off x="1371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Turnaround</a:t>
            </a:r>
            <a:endParaRPr lang="en-US" sz="900" dirty="0"/>
          </a:p>
        </p:txBody>
      </p:sp>
      <p:sp>
        <p:nvSpPr>
          <p:cNvPr id="13" name="Nav Financial_156"/>
          <p:cNvSpPr/>
          <p:nvPr/>
        </p:nvSpPr>
        <p:spPr>
          <a:xfrm>
            <a:off x="2514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Nav label Financial_157"/>
          <p:cNvSpPr txBox="1"/>
          <p:nvPr/>
        </p:nvSpPr>
        <p:spPr>
          <a:xfrm>
            <a:off x="2514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Financial</a:t>
            </a:r>
            <a:endParaRPr lang="en-US" sz="900" dirty="0"/>
          </a:p>
        </p:txBody>
      </p:sp>
      <p:sp>
        <p:nvSpPr>
          <p:cNvPr id="15" name="Nav Operations_158"/>
          <p:cNvSpPr/>
          <p:nvPr/>
        </p:nvSpPr>
        <p:spPr>
          <a:xfrm>
            <a:off x="3657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Nav label Operations_159"/>
          <p:cNvSpPr txBox="1"/>
          <p:nvPr/>
        </p:nvSpPr>
        <p:spPr>
          <a:xfrm>
            <a:off x="3657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7" name="Nav Audit_160"/>
          <p:cNvSpPr/>
          <p:nvPr/>
        </p:nvSpPr>
        <p:spPr>
          <a:xfrm>
            <a:off x="4800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Nav label Audit_161"/>
          <p:cNvSpPr txBox="1"/>
          <p:nvPr/>
        </p:nvSpPr>
        <p:spPr>
          <a:xfrm>
            <a:off x="4800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Audit</a:t>
            </a:r>
            <a:endParaRPr lang="en-US" sz="900" dirty="0"/>
          </a:p>
        </p:txBody>
      </p:sp>
      <p:sp>
        <p:nvSpPr>
          <p:cNvPr id="19" name="Card PORTAL ACTIONS_162"/>
          <p:cNvSpPr/>
          <p:nvPr/>
        </p:nvSpPr>
        <p:spPr>
          <a:xfrm>
            <a:off x="2286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0" name="Title PORTAL ACTIONS_163"/>
          <p:cNvSpPr txBox="1"/>
          <p:nvPr/>
        </p:nvSpPr>
        <p:spPr>
          <a:xfrm>
            <a:off x="361950" y="1152525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PORTAL ACTIONS</a:t>
            </a:r>
            <a:endParaRPr lang="en-US" sz="850" dirty="0"/>
          </a:p>
        </p:txBody>
      </p:sp>
      <p:sp>
        <p:nvSpPr>
          <p:cNvPr id="21" name="Card STATUS MOVES_164"/>
          <p:cNvSpPr/>
          <p:nvPr/>
        </p:nvSpPr>
        <p:spPr>
          <a:xfrm>
            <a:off x="32004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2" name="Dot_165"/>
          <p:cNvSpPr/>
          <p:nvPr/>
        </p:nvSpPr>
        <p:spPr>
          <a:xfrm>
            <a:off x="3333750" y="1209675"/>
            <a:ext cx="76200" cy="76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itle STATUS MOVES_166"/>
          <p:cNvSpPr txBox="1"/>
          <p:nvPr/>
        </p:nvSpPr>
        <p:spPr>
          <a:xfrm>
            <a:off x="3467100" y="11525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STATUS MOVES</a:t>
            </a:r>
            <a:endParaRPr lang="en-US" sz="850" dirty="0"/>
          </a:p>
        </p:txBody>
      </p:sp>
      <p:sp>
        <p:nvSpPr>
          <p:cNvPr id="24" name="Card SETTLEMENTS CONFIRMED_167"/>
          <p:cNvSpPr/>
          <p:nvPr/>
        </p:nvSpPr>
        <p:spPr>
          <a:xfrm>
            <a:off x="61722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5" name="Dot_168"/>
          <p:cNvSpPr/>
          <p:nvPr/>
        </p:nvSpPr>
        <p:spPr>
          <a:xfrm>
            <a:off x="6305550" y="1209675"/>
            <a:ext cx="76200" cy="76200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6" name="Title SETTLEMENTS CONFIRMED_169"/>
          <p:cNvSpPr txBox="1"/>
          <p:nvPr/>
        </p:nvSpPr>
        <p:spPr>
          <a:xfrm>
            <a:off x="6438900" y="11525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SETTLEMENTS CONFIRMED</a:t>
            </a:r>
            <a:endParaRPr lang="en-US" sz="850" dirty="0"/>
          </a:p>
        </p:txBody>
      </p:sp>
      <p:sp>
        <p:nvSpPr>
          <p:cNvPr id="27" name="Card REVERSALS_170"/>
          <p:cNvSpPr/>
          <p:nvPr/>
        </p:nvSpPr>
        <p:spPr>
          <a:xfrm>
            <a:off x="9144000" y="1066800"/>
            <a:ext cx="2819400" cy="80010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28" name="Dot_171"/>
          <p:cNvSpPr/>
          <p:nvPr/>
        </p:nvSpPr>
        <p:spPr>
          <a:xfrm>
            <a:off x="9277350" y="1209675"/>
            <a:ext cx="76200" cy="76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itle REVERSALS_172"/>
          <p:cNvSpPr txBox="1"/>
          <p:nvPr/>
        </p:nvSpPr>
        <p:spPr>
          <a:xfrm>
            <a:off x="9410700" y="11525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6B6B"/>
                </a:solidFill>
              </a:rPr>
              <a:t>REVERSALS</a:t>
            </a:r>
            <a:endParaRPr lang="en-US" sz="850" dirty="0"/>
          </a:p>
        </p:txBody>
      </p:sp>
      <p:sp>
        <p:nvSpPr>
          <p:cNvPr id="30" name="Card Actions by user_173"/>
          <p:cNvSpPr/>
          <p:nvPr/>
        </p:nvSpPr>
        <p:spPr>
          <a:xfrm>
            <a:off x="228600" y="2019300"/>
            <a:ext cx="57912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1" name="Title Actions by user_174"/>
          <p:cNvSpPr txBox="1"/>
          <p:nvPr/>
        </p:nvSpPr>
        <p:spPr>
          <a:xfrm>
            <a:off x="361950" y="2105025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Actions by user</a:t>
            </a:r>
            <a:endParaRPr lang="en-US" sz="1050" dirty="0"/>
          </a:p>
        </p:txBody>
      </p:sp>
      <p:sp>
        <p:nvSpPr>
          <p:cNvPr id="32" name="Card Actions over time_175"/>
          <p:cNvSpPr/>
          <p:nvPr/>
        </p:nvSpPr>
        <p:spPr>
          <a:xfrm>
            <a:off x="6172200" y="2019300"/>
            <a:ext cx="57912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3" name="Title Actions over time_176"/>
          <p:cNvSpPr txBox="1"/>
          <p:nvPr/>
        </p:nvSpPr>
        <p:spPr>
          <a:xfrm>
            <a:off x="6305550" y="2105025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Actions over time</a:t>
            </a:r>
            <a:endParaRPr lang="en-US" sz="1050" dirty="0"/>
          </a:p>
        </p:txBody>
      </p:sp>
      <p:sp>
        <p:nvSpPr>
          <p:cNvPr id="34" name="Card Audit log_177"/>
          <p:cNvSpPr/>
          <p:nvPr/>
        </p:nvSpPr>
        <p:spPr>
          <a:xfrm>
            <a:off x="228600" y="4381500"/>
            <a:ext cx="11734800" cy="22098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35" name="Title Audit log_178"/>
          <p:cNvSpPr txBox="1"/>
          <p:nvPr/>
        </p:nvSpPr>
        <p:spPr>
          <a:xfrm>
            <a:off x="361950" y="4467225"/>
            <a:ext cx="11468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Audit log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_179"/>
          <p:cNvSpPr txBox="1"/>
          <p:nvPr/>
        </p:nvSpPr>
        <p:spPr>
          <a:xfrm>
            <a:off x="228600" y="1714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47850" y="1333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Detail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847850" y="419100"/>
            <a:ext cx="533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Drill-through: one refund, end to end</a:t>
            </a:r>
            <a:endParaRPr lang="en-US" sz="900" dirty="0"/>
          </a:p>
        </p:txBody>
      </p:sp>
      <p:sp>
        <p:nvSpPr>
          <p:cNvPr id="5" name="Back button well"/>
          <p:cNvSpPr/>
          <p:nvPr/>
        </p:nvSpPr>
        <p:spPr>
          <a:xfrm>
            <a:off x="228600" y="647700"/>
            <a:ext cx="1066800" cy="2476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6" name="Back label"/>
          <p:cNvSpPr txBox="1"/>
          <p:nvPr/>
        </p:nvSpPr>
        <p:spPr>
          <a:xfrm>
            <a:off x="228600" y="6477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←  Back</a:t>
            </a:r>
            <a:endParaRPr lang="en-US" sz="900" dirty="0"/>
          </a:p>
        </p:txBody>
      </p:sp>
      <p:sp>
        <p:nvSpPr>
          <p:cNvPr id="7" name="Card Request_180"/>
          <p:cNvSpPr/>
          <p:nvPr/>
        </p:nvSpPr>
        <p:spPr>
          <a:xfrm>
            <a:off x="228600" y="1066800"/>
            <a:ext cx="3810000" cy="55245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8" name="Title Request_181"/>
          <p:cNvSpPr txBox="1"/>
          <p:nvPr/>
        </p:nvSpPr>
        <p:spPr>
          <a:xfrm>
            <a:off x="361950" y="1152525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Request</a:t>
            </a:r>
            <a:endParaRPr lang="en-US" sz="1050" dirty="0"/>
          </a:p>
        </p:txBody>
      </p:sp>
      <p:sp>
        <p:nvSpPr>
          <p:cNvPr id="9" name="Card Progress_182"/>
          <p:cNvSpPr/>
          <p:nvPr/>
        </p:nvSpPr>
        <p:spPr>
          <a:xfrm>
            <a:off x="4191000" y="1066800"/>
            <a:ext cx="7772400" cy="18288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10" name="Title Progress_183"/>
          <p:cNvSpPr txBox="1"/>
          <p:nvPr/>
        </p:nvSpPr>
        <p:spPr>
          <a:xfrm>
            <a:off x="4324350" y="1152525"/>
            <a:ext cx="750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Progress</a:t>
            </a:r>
            <a:endParaRPr lang="en-US" sz="1050" dirty="0"/>
          </a:p>
        </p:txBody>
      </p:sp>
      <p:sp>
        <p:nvSpPr>
          <p:cNvPr id="11" name="Card Processing &amp; settlement_184"/>
          <p:cNvSpPr/>
          <p:nvPr/>
        </p:nvSpPr>
        <p:spPr>
          <a:xfrm>
            <a:off x="4191000" y="3048000"/>
            <a:ext cx="3810000" cy="3543300"/>
          </a:xfrm>
          <a:prstGeom prst="roundRect">
            <a:avLst>
              <a:gd name="adj" fmla="val 215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12" name="Title Processing &amp;amp; settlement_185"/>
          <p:cNvSpPr txBox="1"/>
          <p:nvPr/>
        </p:nvSpPr>
        <p:spPr>
          <a:xfrm>
            <a:off x="4324350" y="3133725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Processing &amp; settlement</a:t>
            </a:r>
            <a:endParaRPr lang="en-US" sz="1050" dirty="0"/>
          </a:p>
        </p:txBody>
      </p:sp>
      <p:sp>
        <p:nvSpPr>
          <p:cNvPr id="13" name="Card Activity_186"/>
          <p:cNvSpPr/>
          <p:nvPr/>
        </p:nvSpPr>
        <p:spPr>
          <a:xfrm>
            <a:off x="8153400" y="3048000"/>
            <a:ext cx="3810000" cy="3543300"/>
          </a:xfrm>
          <a:prstGeom prst="roundRect">
            <a:avLst>
              <a:gd name="adj" fmla="val 2151"/>
            </a:avLst>
          </a:prstGeom>
          <a:solidFill>
            <a:schemeClr val="bg1"/>
          </a:solidFill>
          <a:ln w="9525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7000"/>
              </a:srgbClr>
            </a:outerShdw>
          </a:effectLst>
        </p:spPr>
      </p:sp>
      <p:sp>
        <p:nvSpPr>
          <p:cNvPr id="14" name="Title Activity_187"/>
          <p:cNvSpPr txBox="1"/>
          <p:nvPr/>
        </p:nvSpPr>
        <p:spPr>
          <a:xfrm>
            <a:off x="8286750" y="3133725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Activity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457200"/>
            <a:ext cx="10953750" cy="533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these backgrounds in Power BI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609600" y="1333500"/>
            <a:ext cx="419100" cy="4191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o 1"/>
          <p:cNvSpPr txBox="1"/>
          <p:nvPr/>
        </p:nvSpPr>
        <p:spPr>
          <a:xfrm>
            <a:off x="609600" y="1333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title 1"/>
          <p:cNvSpPr txBox="1"/>
          <p:nvPr/>
        </p:nvSpPr>
        <p:spPr>
          <a:xfrm>
            <a:off x="1219200" y="13144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Export the slides as images</a:t>
            </a:r>
            <a:endParaRPr lang="en-US" sz="1500" dirty="0"/>
          </a:p>
        </p:txBody>
      </p:sp>
      <p:sp>
        <p:nvSpPr>
          <p:cNvPr id="6" name="Step body 1"/>
          <p:cNvSpPr txBox="1"/>
          <p:nvPr/>
        </p:nvSpPr>
        <p:spPr>
          <a:xfrm>
            <a:off x="1219200" y="15621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0"/>
                </a:solidFill>
              </a:rPr>
              <a:t>File › Export › Change File Type › PNG › All Slides. Each slide saves at 1280 × 720, the Power BI 16:9 canvas.</a:t>
            </a:r>
            <a:endParaRPr lang="en-US" sz="1100" dirty="0"/>
          </a:p>
        </p:txBody>
      </p:sp>
      <p:sp>
        <p:nvSpPr>
          <p:cNvPr id="7" name="Step 2"/>
          <p:cNvSpPr/>
          <p:nvPr/>
        </p:nvSpPr>
        <p:spPr>
          <a:xfrm>
            <a:off x="609600" y="2286000"/>
            <a:ext cx="419100" cy="4191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no 2"/>
          <p:cNvSpPr txBox="1"/>
          <p:nvPr/>
        </p:nvSpPr>
        <p:spPr>
          <a:xfrm>
            <a:off x="609600" y="22860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title 2"/>
          <p:cNvSpPr txBox="1"/>
          <p:nvPr/>
        </p:nvSpPr>
        <p:spPr>
          <a:xfrm>
            <a:off x="1219200" y="22669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Set each page background</a:t>
            </a:r>
            <a:endParaRPr lang="en-US" sz="1500" dirty="0"/>
          </a:p>
        </p:txBody>
      </p:sp>
      <p:sp>
        <p:nvSpPr>
          <p:cNvPr id="10" name="Step body 2"/>
          <p:cNvSpPr txBox="1"/>
          <p:nvPr/>
        </p:nvSpPr>
        <p:spPr>
          <a:xfrm>
            <a:off x="1219200" y="25146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0"/>
                </a:solidFill>
              </a:rPr>
              <a:t>Power BI Desktop › Format page › Canvas background › Image › Browse. Image fit: Fit. Transparency: 0%.</a:t>
            </a:r>
            <a:endParaRPr lang="en-US" sz="1100" dirty="0"/>
          </a:p>
        </p:txBody>
      </p:sp>
      <p:sp>
        <p:nvSpPr>
          <p:cNvPr id="11" name="Step 3"/>
          <p:cNvSpPr/>
          <p:nvPr/>
        </p:nvSpPr>
        <p:spPr>
          <a:xfrm>
            <a:off x="609600" y="3238500"/>
            <a:ext cx="419100" cy="4191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no 3"/>
          <p:cNvSpPr txBox="1"/>
          <p:nvPr/>
        </p:nvSpPr>
        <p:spPr>
          <a:xfrm>
            <a:off x="609600" y="3238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title 3"/>
          <p:cNvSpPr txBox="1"/>
          <p:nvPr/>
        </p:nvSpPr>
        <p:spPr>
          <a:xfrm>
            <a:off x="1219200" y="32194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Clear the wallpaper</a:t>
            </a:r>
            <a:endParaRPr lang="en-US" sz="1500" dirty="0"/>
          </a:p>
        </p:txBody>
      </p:sp>
      <p:sp>
        <p:nvSpPr>
          <p:cNvPr id="14" name="Step body 3"/>
          <p:cNvSpPr txBox="1"/>
          <p:nvPr/>
        </p:nvSpPr>
        <p:spPr>
          <a:xfrm>
            <a:off x="1219200" y="34671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0"/>
                </a:solidFill>
              </a:rPr>
              <a:t>Format page › Wallpaper colour #F4F4F4, so nothing shows around the canvas.</a:t>
            </a:r>
            <a:endParaRPr lang="en-US" sz="1100" dirty="0"/>
          </a:p>
        </p:txBody>
      </p:sp>
      <p:sp>
        <p:nvSpPr>
          <p:cNvPr id="15" name="Step 4"/>
          <p:cNvSpPr/>
          <p:nvPr/>
        </p:nvSpPr>
        <p:spPr>
          <a:xfrm>
            <a:off x="609600" y="4191000"/>
            <a:ext cx="419100" cy="4191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o 4"/>
          <p:cNvSpPr txBox="1"/>
          <p:nvPr/>
        </p:nvSpPr>
        <p:spPr>
          <a:xfrm>
            <a:off x="609600" y="41910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 title 4"/>
          <p:cNvSpPr txBox="1"/>
          <p:nvPr/>
        </p:nvSpPr>
        <p:spPr>
          <a:xfrm>
            <a:off x="1219200" y="41719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Drop visuals into the cards</a:t>
            </a:r>
            <a:endParaRPr lang="en-US" sz="1500" dirty="0"/>
          </a:p>
        </p:txBody>
      </p:sp>
      <p:sp>
        <p:nvSpPr>
          <p:cNvPr id="18" name="Step body 4"/>
          <p:cNvSpPr txBox="1"/>
          <p:nvPr/>
        </p:nvSpPr>
        <p:spPr>
          <a:xfrm>
            <a:off x="1219200" y="44196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0"/>
                </a:solidFill>
              </a:rPr>
              <a:t>The speaker notes on every slide list each visual’s X, Y, W, H and the measures to use. Turn visual titles and backgrounds off.</a:t>
            </a:r>
            <a:endParaRPr lang="en-US" sz="1100" dirty="0"/>
          </a:p>
        </p:txBody>
      </p:sp>
      <p:sp>
        <p:nvSpPr>
          <p:cNvPr id="19" name="Step 5"/>
          <p:cNvSpPr/>
          <p:nvPr/>
        </p:nvSpPr>
        <p:spPr>
          <a:xfrm>
            <a:off x="609600" y="5143500"/>
            <a:ext cx="419100" cy="4191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no 5"/>
          <p:cNvSpPr txBox="1"/>
          <p:nvPr/>
        </p:nvSpPr>
        <p:spPr>
          <a:xfrm>
            <a:off x="609600" y="5143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Step title 5"/>
          <p:cNvSpPr txBox="1"/>
          <p:nvPr/>
        </p:nvSpPr>
        <p:spPr>
          <a:xfrm>
            <a:off x="1219200" y="512445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Apply the colour theme</a:t>
            </a:r>
            <a:endParaRPr lang="en-US" sz="1500" dirty="0"/>
          </a:p>
        </p:txBody>
      </p:sp>
      <p:sp>
        <p:nvSpPr>
          <p:cNvPr id="22" name="Step body 5"/>
          <p:cNvSpPr txBox="1"/>
          <p:nvPr/>
        </p:nvSpPr>
        <p:spPr>
          <a:xfrm>
            <a:off x="1219200" y="53721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DD0"/>
                </a:solidFill>
              </a:rPr>
              <a:t>View › Themes › Browse for themes › WGS_Refunds_Theme.json, so charts use the same palette.</a:t>
            </a:r>
            <a:endParaRPr lang="en-US" sz="1100" dirty="0"/>
          </a:p>
        </p:txBody>
      </p:sp>
      <p:sp>
        <p:nvSpPr>
          <p:cNvPr id="23" name="Palette panel"/>
          <p:cNvSpPr/>
          <p:nvPr/>
        </p:nvSpPr>
        <p:spPr>
          <a:xfrm>
            <a:off x="7810500" y="1333500"/>
            <a:ext cx="3771900" cy="4495800"/>
          </a:xfrm>
          <a:prstGeom prst="roundRect">
            <a:avLst>
              <a:gd name="adj" fmla="val 2525"/>
            </a:avLst>
          </a:prstGeom>
          <a:solidFill>
            <a:srgbClr val="2E3537"/>
          </a:solidFill>
          <a:ln w="9525">
            <a:solidFill>
              <a:srgbClr val="3A4245"/>
            </a:solidFill>
            <a:prstDash val="solid"/>
          </a:ln>
        </p:spPr>
      </p:sp>
      <p:sp>
        <p:nvSpPr>
          <p:cNvPr id="24" name="Palette title"/>
          <p:cNvSpPr txBox="1"/>
          <p:nvPr/>
        </p:nvSpPr>
        <p:spPr>
          <a:xfrm>
            <a:off x="8077200" y="15240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</a:t>
            </a:r>
            <a:endParaRPr lang="en-US" sz="1600" dirty="0"/>
          </a:p>
        </p:txBody>
      </p:sp>
      <p:sp>
        <p:nvSpPr>
          <p:cNvPr id="25" name="Swatch F58220"/>
          <p:cNvSpPr/>
          <p:nvPr/>
        </p:nvSpPr>
        <p:spPr>
          <a:xfrm>
            <a:off x="8077200" y="19431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58220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26" name="Swatch label F58220"/>
          <p:cNvSpPr txBox="1"/>
          <p:nvPr/>
        </p:nvSpPr>
        <p:spPr>
          <a:xfrm>
            <a:off x="8553450" y="193357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WGS orange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#F58220  ·  Accent, highlights</a:t>
            </a:r>
            <a:endParaRPr lang="en-US" sz="1100" dirty="0"/>
          </a:p>
        </p:txBody>
      </p:sp>
      <p:sp>
        <p:nvSpPr>
          <p:cNvPr id="27" name="Swatch 23292B"/>
          <p:cNvSpPr/>
          <p:nvPr/>
        </p:nvSpPr>
        <p:spPr>
          <a:xfrm>
            <a:off x="8077200" y="24098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3292B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28" name="Swatch label 23292B"/>
          <p:cNvSpPr txBox="1"/>
          <p:nvPr/>
        </p:nvSpPr>
        <p:spPr>
          <a:xfrm>
            <a:off x="8553450" y="240030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#23292B  ·  Text, dark panels</a:t>
            </a:r>
            <a:endParaRPr lang="en-US" sz="1100" dirty="0"/>
          </a:p>
        </p:txBody>
      </p:sp>
      <p:sp>
        <p:nvSpPr>
          <p:cNvPr id="29" name="Swatch 003049"/>
          <p:cNvSpPr/>
          <p:nvPr/>
        </p:nvSpPr>
        <p:spPr>
          <a:xfrm>
            <a:off x="8077200" y="28765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03049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30" name="Swatch label 003049"/>
          <p:cNvSpPr txBox="1"/>
          <p:nvPr/>
        </p:nvSpPr>
        <p:spPr>
          <a:xfrm>
            <a:off x="8553450" y="28670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Navy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#003049  ·  Settled, secondary series</a:t>
            </a:r>
            <a:endParaRPr lang="en-US" sz="1100" dirty="0"/>
          </a:p>
        </p:txBody>
      </p:sp>
      <p:sp>
        <p:nvSpPr>
          <p:cNvPr id="31" name="Swatch E65100"/>
          <p:cNvSpPr/>
          <p:nvPr/>
        </p:nvSpPr>
        <p:spPr>
          <a:xfrm>
            <a:off x="8077200" y="334327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32" name="Swatch label E65100"/>
          <p:cNvSpPr txBox="1"/>
          <p:nvPr/>
        </p:nvSpPr>
        <p:spPr>
          <a:xfrm>
            <a:off x="8553450" y="33337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Pending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#E65100  ·  Status</a:t>
            </a:r>
            <a:endParaRPr lang="en-US" sz="1100" dirty="0"/>
          </a:p>
        </p:txBody>
      </p:sp>
      <p:sp>
        <p:nvSpPr>
          <p:cNvPr id="33" name="Swatch 1565C0"/>
          <p:cNvSpPr/>
          <p:nvPr/>
        </p:nvSpPr>
        <p:spPr>
          <a:xfrm>
            <a:off x="8077200" y="38100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34" name="Swatch label 1565C0"/>
          <p:cNvSpPr txBox="1"/>
          <p:nvPr/>
        </p:nvSpPr>
        <p:spPr>
          <a:xfrm>
            <a:off x="8553450" y="380047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#1565C0  ·  Status</a:t>
            </a:r>
            <a:endParaRPr lang="en-US" sz="1100" dirty="0"/>
          </a:p>
        </p:txBody>
      </p:sp>
      <p:sp>
        <p:nvSpPr>
          <p:cNvPr id="35" name="Swatch 7B4FBF"/>
          <p:cNvSpPr/>
          <p:nvPr/>
        </p:nvSpPr>
        <p:spPr>
          <a:xfrm>
            <a:off x="8077200" y="42767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7B4FBF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36" name="Swatch label 7B4FBF"/>
          <p:cNvSpPr txBox="1"/>
          <p:nvPr/>
        </p:nvSpPr>
        <p:spPr>
          <a:xfrm>
            <a:off x="8553450" y="426720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Process done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#7B4FBF  ·  Status</a:t>
            </a:r>
            <a:endParaRPr lang="en-US" sz="1100" dirty="0"/>
          </a:p>
        </p:txBody>
      </p:sp>
      <p:sp>
        <p:nvSpPr>
          <p:cNvPr id="37" name="Swatch B8860B"/>
          <p:cNvSpPr/>
          <p:nvPr/>
        </p:nvSpPr>
        <p:spPr>
          <a:xfrm>
            <a:off x="8077200" y="4743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38" name="Swatch label B8860B"/>
          <p:cNvSpPr txBox="1"/>
          <p:nvPr/>
        </p:nvSpPr>
        <p:spPr>
          <a:xfrm>
            <a:off x="8553450" y="47339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Service charge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#B8860B  ·  Status</a:t>
            </a:r>
            <a:endParaRPr lang="en-US" sz="1100" dirty="0"/>
          </a:p>
        </p:txBody>
      </p:sp>
      <p:sp>
        <p:nvSpPr>
          <p:cNvPr id="39" name="Swatch 319F4E"/>
          <p:cNvSpPr/>
          <p:nvPr/>
        </p:nvSpPr>
        <p:spPr>
          <a:xfrm>
            <a:off x="8077200" y="521017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319F4E"/>
          </a:solidFill>
          <a:ln w="9525">
            <a:solidFill>
              <a:srgbClr val="4A5255"/>
            </a:solidFill>
            <a:prstDash val="solid"/>
          </a:ln>
        </p:spPr>
      </p:sp>
      <p:sp>
        <p:nvSpPr>
          <p:cNvPr id="40" name="Swatch label 319F4E"/>
          <p:cNvSpPr txBox="1"/>
          <p:nvPr/>
        </p:nvSpPr>
        <p:spPr>
          <a:xfrm>
            <a:off x="8553450" y="52006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Posted / profit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EB4B7"/>
                </a:solidFill>
              </a:rPr>
              <a:t>#319F4E  ·  Status, positive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GS Refunds">
  <a:themeElements>
    <a:clrScheme name="WGS Refunds">
      <a:dk1>
        <a:srgbClr val="23292B"/>
      </a:dk1>
      <a:lt1>
        <a:srgbClr val="FFFFFF"/>
      </a:lt1>
      <a:dk2>
        <a:srgbClr val="003049"/>
      </a:dk2>
      <a:lt2>
        <a:srgbClr val="F4F4F4"/>
      </a:lt2>
      <a:accent1>
        <a:srgbClr val="F58220"/>
      </a:accent1>
      <a:accent2>
        <a:srgbClr val="003049"/>
      </a:accent2>
      <a:accent3>
        <a:srgbClr val="00A651"/>
      </a:accent3>
      <a:accent4>
        <a:srgbClr val="7B4FBF"/>
      </a:accent4>
      <a:accent5>
        <a:srgbClr val="1565C0"/>
      </a:accent5>
      <a:accent6>
        <a:srgbClr val="B8860B"/>
      </a:accent6>
      <a:hlink>
        <a:srgbClr val="F58220"/>
      </a:hlink>
      <a:folHlink>
        <a:srgbClr val="6B6B6B"/>
      </a:folHlink>
    </a:clrScheme>
    <a:fontScheme name="WGS Refund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Refunds Analytics - Power BI Page Backgrounds</dc:title>
  <dc:subject>PptxGenJS Presentation</dc:subject>
  <dc:creator>WGS Refund Operations</dc:creator>
  <cp:lastModifiedBy>WGS Refund Operations</cp:lastModifiedBy>
  <cp:revision>1</cp:revision>
  <dcterms:created xsi:type="dcterms:W3CDTF">2026-10-02T15:37:53Z</dcterms:created>
  <dcterms:modified xsi:type="dcterms:W3CDTF">2026-10-02T15:37:53Z</dcterms:modified>
</cp:coreProperties>
</file>